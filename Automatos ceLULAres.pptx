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117">
          <p15:clr>
            <a:srgbClr val="A4A3A4"/>
          </p15:clr>
        </p15:guide>
        <p15:guide id="2" pos="65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6" y="60"/>
      </p:cViewPr>
      <p:guideLst>
        <p:guide orient="horz" pos="1117"/>
        <p:guide pos="6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533b6074c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533b6074c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a318c74f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13a318c74f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e48d1bc83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13e48d1bc83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e48d1bc8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13e48d1bc8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3e48d1bc83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13e48d1bc83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3e48d1bc83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13e48d1bc83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3e48d1bc83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13e48d1bc83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3e48d1bc83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13e48d1bc83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3e48d1bc83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13e48d1bc83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3e48d1bc83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13e48d1bc83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3e48d1bc83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13e48d1bc83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3e48d1bc83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13e48d1bc83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3e48d1bc83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13e48d1bc83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3e48d1bc83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13e48d1bc83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3e48d1bc83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13e48d1bc83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3e48d1bc83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13e48d1bc83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3e48d1bc83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13e48d1bc83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3e48d1bc83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13e48d1bc83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3e48d1bc83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g13e48d1bc83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3e48d1bc83_3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13e48d1bc83_3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3e48d1bc83_3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13e48d1bc83_3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3e48d1bc83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13e48d1bc83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3e48d1bc83_3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g13e48d1bc83_3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3e48d1bc83_3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13e48d1bc83_3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3e48d1bc83_3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g13e48d1bc83_3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3e33cf13df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g13e33cf13df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3e33cf13d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13e33cf13d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533b6074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533b6074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3e33cf13df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13e33cf13df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3e48d1bc83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13e48d1bc8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996f8eb70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996f8eb70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g996f8eb70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33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3524" y="5550601"/>
            <a:ext cx="2659176" cy="906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3779900" y="4698375"/>
            <a:ext cx="4061400" cy="21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00">
                <a:solidFill>
                  <a:schemeClr val="dk1"/>
                </a:solidFill>
              </a:rPr>
              <a:t>Henrique Zanela Cochak</a:t>
            </a:r>
            <a:endParaRPr sz="19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00">
                <a:solidFill>
                  <a:schemeClr val="dk1"/>
                </a:solidFill>
              </a:rPr>
              <a:t>Milton Pedro Pagliusi Neto</a:t>
            </a:r>
            <a:endParaRPr sz="19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00">
                <a:solidFill>
                  <a:schemeClr val="dk1"/>
                </a:solidFill>
              </a:rPr>
              <a:t>24/07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779900" y="1730950"/>
            <a:ext cx="5364000" cy="1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 sz="2000" b="1">
                <a:solidFill>
                  <a:schemeClr val="dk1"/>
                </a:solidFill>
              </a:rPr>
              <a:t>Autômatos Celulares e Jogo da Vida de Conway </a:t>
            </a:r>
            <a:endParaRPr sz="2000" b="1">
              <a:solidFill>
                <a:schemeClr val="dk1"/>
              </a:solidFill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 t="23653"/>
          <a:stretch/>
        </p:blipFill>
        <p:spPr>
          <a:xfrm rot="10800000" flipH="1">
            <a:off x="-396552" y="188640"/>
            <a:ext cx="4449092" cy="6696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 rotWithShape="1">
          <a:blip r:embed="rId5">
            <a:alphaModFix/>
          </a:blip>
          <a:srcRect t="92210"/>
          <a:stretch/>
        </p:blipFill>
        <p:spPr>
          <a:xfrm flipH="1">
            <a:off x="3779912" y="0"/>
            <a:ext cx="5904657" cy="906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Agenda</a:t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98" name="Google Shape;98;p14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286900" y="1290300"/>
            <a:ext cx="8616300" cy="47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Introdução</a:t>
            </a: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Fundamentação</a:t>
            </a: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Autômatos celulares</a:t>
            </a: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Jogo da vida de Conway’s</a:t>
            </a: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Considerações Finais</a:t>
            </a: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6374" y="1395200"/>
            <a:ext cx="2352850" cy="297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Introdução</a:t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107" name="Google Shape;107;p15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3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John Von Neumann previu que no futuro a ciência estaria muito mais preocupada com problemas de controle, programação, processamento de informações, comunicação, organização e sistemas [2].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10" name="Google Shape;11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0200" y="105163"/>
            <a:ext cx="1103075" cy="110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0500" y="3330326"/>
            <a:ext cx="2215900" cy="287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Introdução</a:t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117" name="Google Shape;117;p16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4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Sua base de estudo em teorias dos autômatos se baseia no estudo pragmático dos computadores digitais [2: p. 33, 36].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Concepção similar de cibernética de Wiener's [1].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20" name="Google Shape;12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0200" y="105163"/>
            <a:ext cx="1103075" cy="110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0500" y="3330326"/>
            <a:ext cx="2215900" cy="287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Introdução</a:t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127" name="Google Shape;127;p17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5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286900" y="1255250"/>
            <a:ext cx="8616600" cy="19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Uma questão importante proposta e solucionada pelo mesmo é “que tipo de organização lógica é suficiente para um autômato se controlar de tal maneira que se reproduza?”.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0200" y="105163"/>
            <a:ext cx="1103075" cy="110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4025" y="3471376"/>
            <a:ext cx="2215900" cy="287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393550" y="3743500"/>
            <a:ext cx="5325600" cy="19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Solução inicial: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Estudos biológicos neurais em conjunto de sistemas autômatos cinemáticos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6</a:t>
            </a:fld>
            <a:endParaRPr sz="2400" b="1">
              <a:solidFill>
                <a:srgbClr val="000000"/>
              </a:solidFill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3650" y="58148"/>
            <a:ext cx="1262125" cy="1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Fundamentação </a:t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Um autômato, em si, pode ser considerado como uma caixa preta, da qual perguntas podem ser feitas e das quais um “sim” ou “não” é obtido como resposta [7].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A definição da estrutura interna deve ser geral o suficiente para cobrir todas as máquinas concebíveis, sem a necessidade de envolvimento com problemas físicos de circuito.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O número de estados não se torna importante, contudo é interessante perceber a existência de um valor finito [7].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7</a:t>
            </a:fld>
            <a:endParaRPr sz="2400" b="1">
              <a:solidFill>
                <a:srgbClr val="000000"/>
              </a:solidFill>
            </a:endParaRPr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3650" y="58148"/>
            <a:ext cx="1262125" cy="1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Fundamentação </a:t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Dentro desta teoria, Von Neumann usa suas comparações iniciais sendo estritamente baseadas em biologia em estudos de redes neurais.</a:t>
            </a:r>
            <a:endParaRPr sz="2400">
              <a:solidFill>
                <a:schemeClr val="dk1"/>
              </a:solidFill>
            </a:endParaRPr>
          </a:p>
          <a:p>
            <a:pPr marL="1371600" lvl="1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Neurônios como elementos de computação;</a:t>
            </a:r>
            <a:endParaRPr sz="2400">
              <a:solidFill>
                <a:schemeClr val="dk1"/>
              </a:solidFill>
            </a:endParaRPr>
          </a:p>
          <a:p>
            <a:pPr marL="1371600" lvl="1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Combinações com funções de comutação e atrasos nas sinapses para geração de uma saída considerada binária [2]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8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Autômatos Celulares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158" name="Google Shape;15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Neumann em seu livro intitulado </a:t>
            </a:r>
            <a:r>
              <a:rPr lang="pt-BR" sz="2400" i="1">
                <a:solidFill>
                  <a:schemeClr val="dk1"/>
                </a:solidFill>
              </a:rPr>
              <a:t>Theory of self reproducing automata</a:t>
            </a:r>
            <a:r>
              <a:rPr lang="pt-BR" sz="2400">
                <a:solidFill>
                  <a:schemeClr val="dk1"/>
                </a:solidFill>
              </a:rPr>
              <a:t> [2]:</a:t>
            </a:r>
            <a:endParaRPr sz="2400">
              <a:solidFill>
                <a:schemeClr val="dk1"/>
              </a:solidFill>
            </a:endParaRPr>
          </a:p>
          <a:p>
            <a:pPr marL="13716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Detalha toda sua fundamentação que o levou a explorar o conceito de autômatos celulares.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Arthur Walter Burks auxiliou na conclusão do livro.</a:t>
            </a:r>
            <a:endParaRPr sz="24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1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9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Autômatos Celulares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167" name="Google Shape;16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Um sistema celular constitui uma estrutura básica ou “espaço” no qual eventos de autômatos podem ocorrer.</a:t>
            </a:r>
            <a:endParaRPr sz="2400">
              <a:solidFill>
                <a:schemeClr val="dk1"/>
              </a:solidFill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Além disso, pode-se formular regras precisas e simples que regem o funcionamento do sistema e sua base temporal é síncrona [2].</a:t>
            </a:r>
            <a:endParaRPr sz="2400">
              <a:solidFill>
                <a:schemeClr val="dk1"/>
              </a:solidFill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Conceitos de vizinhanças são incluídos, e na sua relação, para cada célula, gera uma lista finita de células que são suas vizinhas [2].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2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10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Autômatos Celulares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176" name="Google Shape;17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Chama-se a lista de estados de uma célula junto com a regra que governa a transição de estado da célula de função de transição.</a:t>
            </a:r>
            <a:endParaRPr sz="2400">
              <a:solidFill>
                <a:schemeClr val="dk1"/>
              </a:solidFill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Logo, um sistema de autômatos celulares consiste em um espaço celular e uma função de transição definida sobre este espaço.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11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Autômatos Celulares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185" name="Google Shape;18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O sistema celular de von Neumann baseia-se em um espaço celular bidimensional de células quadradas em que cada célula tem como vizinhas as quatro células com as quais compartilha limites, cada célula com a possibilidade de atingir 29 estados.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87" name="Google Shape;18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0625" y="3419100"/>
            <a:ext cx="5420625" cy="319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4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12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Autômatos Celulares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195" name="Google Shape;19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 i="1">
                <a:solidFill>
                  <a:schemeClr val="dk1"/>
                </a:solidFill>
              </a:rPr>
              <a:t>Quiescent</a:t>
            </a:r>
            <a:r>
              <a:rPr lang="pt-BR" sz="2400">
                <a:solidFill>
                  <a:schemeClr val="dk1"/>
                </a:solidFill>
              </a:rPr>
              <a:t>: célula que não tem influência em sua vizinhança. As células localizadas nas partes não utilizadas do arranjo celular estão neste estado.</a:t>
            </a:r>
            <a:endParaRPr sz="2400">
              <a:solidFill>
                <a:schemeClr val="dk1"/>
              </a:solidFill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Transmissão: responsável pela propagação de excitações entre dois pontos dados do arranjo celular estando ou não excitado.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13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203" name="Google Shape;203;p25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Autômatos Celulares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204" name="Google Shape;20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5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Confluente: similar ao estado de transmissão, só que adiciona um atraso de duas unidades de tempo na transmissão de excitações e oferecem a possibilidade de dividir linhas de transmissão.</a:t>
            </a:r>
            <a:endParaRPr sz="2400">
              <a:solidFill>
                <a:schemeClr val="dk1"/>
              </a:solidFill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Sensibilizado: estado temporário usado para o processo de construção, que muda do estado </a:t>
            </a:r>
            <a:r>
              <a:rPr lang="pt-BR" sz="2400" i="1">
                <a:solidFill>
                  <a:schemeClr val="dk1"/>
                </a:solidFill>
              </a:rPr>
              <a:t>quiescent </a:t>
            </a:r>
            <a:r>
              <a:rPr lang="pt-BR" sz="2400">
                <a:solidFill>
                  <a:schemeClr val="dk1"/>
                </a:solidFill>
              </a:rPr>
              <a:t>para um estado de transmissão ou confluente.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6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14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Autômatos Celulares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213" name="Google Shape;2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6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Neumann definiu um construtor universal, ou seja, uma máquina capaz de criar outra máquina, dado uma descrição.</a:t>
            </a:r>
            <a:endParaRPr sz="2400">
              <a:solidFill>
                <a:schemeClr val="dk1"/>
              </a:solidFill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Isto ocorria devido ao alcance de auto-replicação, fornecendo ao construtor universal sua própria descrição.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15</a:t>
            </a:fld>
            <a:endParaRPr sz="2400" b="1">
              <a:solidFill>
                <a:srgbClr val="000000"/>
              </a:solidFill>
            </a:endParaRPr>
          </a:p>
        </p:txBody>
      </p:sp>
      <p:pic>
        <p:nvPicPr>
          <p:cNvPr id="220" name="Google Shape;22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550" y="141825"/>
            <a:ext cx="7514899" cy="605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7"/>
          <p:cNvSpPr txBox="1"/>
          <p:nvPr/>
        </p:nvSpPr>
        <p:spPr>
          <a:xfrm>
            <a:off x="814550" y="6035375"/>
            <a:ext cx="7515000" cy="6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</a:pPr>
            <a:r>
              <a:rPr lang="pt-BR" sz="1600" b="1">
                <a:solidFill>
                  <a:schemeClr val="dk1"/>
                </a:solidFill>
              </a:rPr>
              <a:t>Construtor universal com fita ilimitada e braço construtor</a:t>
            </a:r>
            <a:endParaRPr sz="16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8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16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Autômatos Celulares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229" name="Google Shape;2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Sobre a fita da máquina, cinco operações de fita a seguir são suficientes para todos os propósitos computacionais:</a:t>
            </a:r>
            <a:endParaRPr sz="2400">
              <a:solidFill>
                <a:schemeClr val="dk1"/>
              </a:solidFill>
            </a:endParaRPr>
          </a:p>
          <a:p>
            <a:pPr marL="1371600" lvl="1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Ler;</a:t>
            </a:r>
            <a:endParaRPr sz="2400">
              <a:solidFill>
                <a:schemeClr val="dk1"/>
              </a:solidFill>
            </a:endParaRPr>
          </a:p>
          <a:p>
            <a:pPr marL="1371600" lvl="1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Escrever “um” e alongar o ciclo de leitura em uma célula;</a:t>
            </a:r>
            <a:endParaRPr sz="2400">
              <a:solidFill>
                <a:schemeClr val="dk1"/>
              </a:solidFill>
            </a:endParaRPr>
          </a:p>
          <a:p>
            <a:pPr marL="1371600" lvl="1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Escrever “zero” e alongar;</a:t>
            </a:r>
            <a:endParaRPr sz="2400">
              <a:solidFill>
                <a:schemeClr val="dk1"/>
              </a:solidFill>
            </a:endParaRPr>
          </a:p>
          <a:p>
            <a:pPr marL="1371600" lvl="1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Escrever “um” e encurtar;</a:t>
            </a:r>
            <a:endParaRPr sz="2400">
              <a:solidFill>
                <a:schemeClr val="dk1"/>
              </a:solidFill>
            </a:endParaRPr>
          </a:p>
          <a:p>
            <a:pPr marL="1371600" lvl="1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Escrever “zero” e encurtar.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9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17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Autômatos Celulares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238" name="Google Shape;23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9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Com a possibilidade de simulação do sistema celular de von Neumann por um autômato finito:</a:t>
            </a:r>
            <a:endParaRPr sz="2400">
              <a:solidFill>
                <a:schemeClr val="dk1"/>
              </a:solidFill>
            </a:endParaRPr>
          </a:p>
          <a:p>
            <a:pPr marL="1371600" lvl="1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É possível envolver a construção ou introdução de uma máquina de Turing universal [1].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Esta máquina requer para sua entrada uma descrição de uma determinada máquina de Turing e os dados que essa máquina usaria.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A máquina universal então simula a máquina particular, inclusive sendo possível a execução da auto-replicação dado o construtor de sistemas celulares [10].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0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18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246" name="Google Shape;246;p30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Autômatos Celulares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247" name="Google Shape;24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0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Assim, dado qualquer máquina de Turing </a:t>
            </a:r>
            <a:r>
              <a:rPr lang="pt-BR" sz="2400" b="1" i="1">
                <a:solidFill>
                  <a:schemeClr val="dk1"/>
                </a:solidFill>
              </a:rPr>
              <a:t>M</a:t>
            </a:r>
            <a:r>
              <a:rPr lang="pt-BR" sz="2400">
                <a:solidFill>
                  <a:schemeClr val="dk1"/>
                </a:solidFill>
              </a:rPr>
              <a:t>, é possível embutir na estrutura celular de 29 estados um autômato quiescente que executa os mesmos cálculos, tornando o sistema uma possível máquina universal de Turing [1, 2], já que a lógica dos espaços celulares é logicamente universal [1].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1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19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255" name="Google Shape;255;p31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Jogo da Vida de Conway’s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256" name="Google Shape;25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8864" y="378711"/>
            <a:ext cx="1888211" cy="5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1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Em 1970, John Conway elaborou uma máquina que consistia em um quadro infinito e um conjunto de regras descrevendo como cada célula deste quadro se comportaria, com um estado “vivo” ou “morto”.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pic>
        <p:nvPicPr>
          <p:cNvPr id="258" name="Google Shape;25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2896" y="3312150"/>
            <a:ext cx="3078200" cy="290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2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20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265" name="Google Shape;265;p32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Introdução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266" name="Google Shape;26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8864" y="378711"/>
            <a:ext cx="1888211" cy="5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2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Apesar da origem de autômatos celulares estar marcada aproximadamente em 1950, o autômato celular  “Jogo da Vida”, de John </a:t>
            </a:r>
            <a:r>
              <a:rPr lang="pt-BR" sz="2400" dirty="0" err="1">
                <a:solidFill>
                  <a:schemeClr val="dk1"/>
                </a:solidFill>
              </a:rPr>
              <a:t>Holton</a:t>
            </a:r>
            <a:r>
              <a:rPr lang="pt-BR" sz="2400" dirty="0">
                <a:solidFill>
                  <a:schemeClr val="dk1"/>
                </a:solidFill>
              </a:rPr>
              <a:t> Conway foi o responsável pelo crescimento de interesse nesta  área .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</a:rPr>
              <a:t>Mas afinal, o que é esse “Jogo da Vida”? É um autômato celular que simula padrões evolutivos em populações de células “vivas” baseado em um conjunto de regras. 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</p:txBody>
      </p:sp>
      <p:pic>
        <p:nvPicPr>
          <p:cNvPr id="268" name="Google Shape;26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9099" y="4413275"/>
            <a:ext cx="2805800" cy="202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3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21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275" name="Google Shape;275;p33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Regras do Jogo da Vida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276" name="Google Shape;27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8864" y="378711"/>
            <a:ext cx="1888211" cy="5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3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Trata-se de um jogo evolutivo, ou seja, a condição inicial do “mapa” dita o que acontece, onde cada célula tem um estado binário de vivo ou morto e a cada geração que passa, novas vizinhanças e estruturas são formadas, tudo com base nas seguintes regras evolutivas: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</a:t>
            </a:r>
            <a:r>
              <a:rPr lang="pt-BR" sz="2400">
                <a:solidFill>
                  <a:schemeClr val="dk1"/>
                </a:solidFill>
              </a:rPr>
              <a:t>Uma célula “viva” se mantém indiferente se esta tem como vizinho dois ou três vizinhos “vivos”.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</a:t>
            </a:r>
            <a:r>
              <a:rPr lang="pt-BR" sz="2400">
                <a:solidFill>
                  <a:schemeClr val="dk1"/>
                </a:solidFill>
              </a:rPr>
              <a:t>Uma célula nova “nasce” quando tem três vizinhos “vivos”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</a:t>
            </a:r>
            <a:r>
              <a:rPr lang="pt-BR" sz="2400">
                <a:solidFill>
                  <a:schemeClr val="dk1"/>
                </a:solidFill>
              </a:rPr>
              <a:t>Todas as outras células permanecem indiferentes.</a:t>
            </a:r>
            <a:endParaRPr sz="24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4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22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284" name="Google Shape;284;p34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Estruturas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285" name="Google Shape;28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8864" y="378711"/>
            <a:ext cx="1888211" cy="5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4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Durante o processo evolutivo do autômato do jogo da Vida de Conway,diferentes estruturas se desenvolvem, seja pelo isolamento ou pela sobrepopulação.</a:t>
            </a:r>
            <a:endParaRPr sz="2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pic>
        <p:nvPicPr>
          <p:cNvPr id="287" name="Google Shape;28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5425" y="3059100"/>
            <a:ext cx="5953125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5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23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294" name="Google Shape;294;p35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Estruturas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295" name="Google Shape;29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8864" y="378711"/>
            <a:ext cx="1888211" cy="5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5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Dentre os exemplos do slide anterior, temos:</a:t>
            </a:r>
            <a:endParaRPr sz="2400">
              <a:solidFill>
                <a:schemeClr val="dk1"/>
              </a:solidFill>
            </a:endParaRPr>
          </a:p>
          <a:p>
            <a:pPr marL="914400" lvl="1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 i="1">
                <a:solidFill>
                  <a:schemeClr val="dk1"/>
                </a:solidFill>
              </a:rPr>
              <a:t>Still Life</a:t>
            </a:r>
            <a:r>
              <a:rPr lang="pt-BR" sz="2400">
                <a:solidFill>
                  <a:schemeClr val="dk1"/>
                </a:solidFill>
              </a:rPr>
              <a:t>: estes são os menores ciclos possíveis, com uma configuração de estados imutável.</a:t>
            </a:r>
            <a:endParaRPr sz="2400">
              <a:solidFill>
                <a:schemeClr val="dk1"/>
              </a:solidFill>
            </a:endParaRPr>
          </a:p>
          <a:p>
            <a:pPr marL="914400" lvl="1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 i="1">
                <a:solidFill>
                  <a:schemeClr val="dk1"/>
                </a:solidFill>
              </a:rPr>
              <a:t>Oscillator</a:t>
            </a:r>
            <a:r>
              <a:rPr lang="pt-BR" sz="2400">
                <a:solidFill>
                  <a:schemeClr val="dk1"/>
                </a:solidFill>
              </a:rPr>
              <a:t>: uma configuração de estrutura que se repete depois de um número </a:t>
            </a:r>
            <a:r>
              <a:rPr lang="pt-BR" sz="2400" i="1">
                <a:solidFill>
                  <a:schemeClr val="dk1"/>
                </a:solidFill>
              </a:rPr>
              <a:t>n </a:t>
            </a:r>
            <a:r>
              <a:rPr lang="pt-BR" sz="2400">
                <a:solidFill>
                  <a:schemeClr val="dk1"/>
                </a:solidFill>
              </a:rPr>
              <a:t>de gerações.</a:t>
            </a:r>
            <a:endParaRPr sz="2400">
              <a:solidFill>
                <a:schemeClr val="dk1"/>
              </a:solidFill>
            </a:endParaRPr>
          </a:p>
          <a:p>
            <a:pPr marL="914400" lvl="1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 i="1">
                <a:solidFill>
                  <a:schemeClr val="dk1"/>
                </a:solidFill>
              </a:rPr>
              <a:t>Spaceship</a:t>
            </a:r>
            <a:r>
              <a:rPr lang="pt-BR" sz="2400">
                <a:solidFill>
                  <a:schemeClr val="dk1"/>
                </a:solidFill>
              </a:rPr>
              <a:t>: assim como o oscillator, é uma configuração de estrutura que se repete depois de um número n de gerações, porém, se repete com um movimento a uma direção, nunca estático.</a:t>
            </a:r>
            <a:endParaRPr sz="2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6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24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303" name="Google Shape;303;p36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A MT do Jogo da Vida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304" name="Google Shape;30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8864" y="378711"/>
            <a:ext cx="1888211" cy="5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6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Com o potencial de simular sistemas evolucionários, foi estudado a possibilidade da construção de uma máquina de Turing, com fita dentro do autômato celular do Jogo da Vida de Conway, com extensão para uma MT Universal.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Isso também foi usado para provar a universalidade dentro do Jogo da Vida, uma vez que, a prova disso é a tese de Church-Turing de que ela pode performar o equivalente a uma MT.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7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7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25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312" name="Google Shape;312;p37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A MT do Jogo da Vida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313" name="Google Shape;31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8864" y="378711"/>
            <a:ext cx="1888211" cy="55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0000" y="1319625"/>
            <a:ext cx="3444000" cy="33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7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Nesta figura podemos ver a máquina finita de estados na estrutura quadrada na parte inferior a esquerda e a fita como a estrutura na diagonal, assim como o cursor.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8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26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322" name="Google Shape;322;p38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A MT do Jogo da Vida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323" name="Google Shape;32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8864" y="378711"/>
            <a:ext cx="1888211" cy="5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8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A implementação da MT,(mesmo a universal), contou com o desenvolvimento de diferentes estruturas capazes de transmitir informações através do plano do Jogo da Vida (exemplos: </a:t>
            </a:r>
            <a:r>
              <a:rPr lang="pt-BR" sz="2400" i="1">
                <a:solidFill>
                  <a:schemeClr val="dk1"/>
                </a:solidFill>
              </a:rPr>
              <a:t>glider guns</a:t>
            </a:r>
            <a:r>
              <a:rPr lang="pt-BR" sz="2400">
                <a:solidFill>
                  <a:schemeClr val="dk1"/>
                </a:solidFill>
              </a:rPr>
              <a:t>).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Também foi necessário a implementação das computações necessárias para essa simulação, como por exemplo:</a:t>
            </a:r>
            <a:endParaRPr sz="2400">
              <a:solidFill>
                <a:schemeClr val="dk1"/>
              </a:solidFill>
            </a:endParaRPr>
          </a:p>
          <a:p>
            <a:pPr marL="1371600" lvl="1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A máquina finita de estados.</a:t>
            </a:r>
            <a:endParaRPr sz="2400">
              <a:solidFill>
                <a:schemeClr val="dk1"/>
              </a:solidFill>
            </a:endParaRPr>
          </a:p>
          <a:p>
            <a:pPr marL="1371600" lvl="1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Fita (in)Finita.</a:t>
            </a:r>
            <a:endParaRPr sz="2400">
              <a:solidFill>
                <a:schemeClr val="dk1"/>
              </a:solidFill>
            </a:endParaRPr>
          </a:p>
          <a:p>
            <a:pPr marL="1371600" lvl="1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Transição de Estados (cursor).</a:t>
            </a:r>
            <a:endParaRPr sz="2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9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9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27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331" name="Google Shape;331;p39"/>
          <p:cNvSpPr txBox="1"/>
          <p:nvPr/>
        </p:nvSpPr>
        <p:spPr>
          <a:xfrm>
            <a:off x="393550" y="333600"/>
            <a:ext cx="8509800" cy="11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Considerações Finais</a:t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332" name="Google Shape;332;p39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Autômatos celulares são empregados para analisar fenômenos de crescimento a nível celular, e.g., crescimento de planta, evolução do DNA, devido a sua técnica ser capaz de prever a evolução mais dinâmica de certos padrões complexos.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Um ponto interessante destas produções é que o sistema de autômato celular de von Neumann é um computação universal e uma construção universal capaz de ser auto-reprodutivo.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</a:endParaRPr>
          </a:p>
        </p:txBody>
      </p:sp>
      <p:pic>
        <p:nvPicPr>
          <p:cNvPr id="333" name="Google Shape;33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8887" y="221538"/>
            <a:ext cx="664463" cy="87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0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0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28</a:t>
            </a:fld>
            <a:endParaRPr sz="2400" b="1">
              <a:solidFill>
                <a:srgbClr val="000000"/>
              </a:solidFill>
            </a:endParaRPr>
          </a:p>
        </p:txBody>
      </p:sp>
      <p:sp>
        <p:nvSpPr>
          <p:cNvPr id="340" name="Google Shape;340;p40"/>
          <p:cNvSpPr txBox="1"/>
          <p:nvPr/>
        </p:nvSpPr>
        <p:spPr>
          <a:xfrm>
            <a:off x="393550" y="333600"/>
            <a:ext cx="8509800" cy="11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Considerações Finais</a:t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341" name="Google Shape;341;p40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Comprovar uma máquina de Turing universal do Jogo da Vida (sendo uma extensão relativamente simples da primeira), gerou um exemplo de uma computação baseada em colisão espaço-temporal, ou seja, uma demonstração da universalidade do Jogo da Vida. 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Essa implementação de construção contínua demonstra a capacidade de uma aplicação usando autômatos celulares se aproveitando de padrões “aprendidos”.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42" name="Google Shape;3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8887" y="221538"/>
            <a:ext cx="664463" cy="87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1"/>
          <p:cNvSpPr txBox="1"/>
          <p:nvPr/>
        </p:nvSpPr>
        <p:spPr>
          <a:xfrm>
            <a:off x="393549" y="333523"/>
            <a:ext cx="61926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Referências</a:t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348" name="Google Shape;348;p41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41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29</a:t>
            </a:fld>
            <a:endParaRPr sz="2400" b="1">
              <a:solidFill>
                <a:srgbClr val="000000"/>
              </a:solidFill>
            </a:endParaRPr>
          </a:p>
        </p:txBody>
      </p:sp>
      <p:pic>
        <p:nvPicPr>
          <p:cNvPr id="350" name="Google Shape;35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2123"/>
            <a:ext cx="8839201" cy="1603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887668"/>
            <a:ext cx="8839201" cy="3187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2"/>
          <p:cNvSpPr txBox="1"/>
          <p:nvPr/>
        </p:nvSpPr>
        <p:spPr>
          <a:xfrm>
            <a:off x="393549" y="333523"/>
            <a:ext cx="61926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Referências</a:t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357" name="Google Shape;357;p42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2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30</a:t>
            </a:fld>
            <a:endParaRPr sz="2400" b="1">
              <a:solidFill>
                <a:srgbClr val="000000"/>
              </a:solidFill>
            </a:endParaRPr>
          </a:p>
        </p:txBody>
      </p:sp>
      <p:pic>
        <p:nvPicPr>
          <p:cNvPr id="359" name="Google Shape;35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2123"/>
            <a:ext cx="8839201" cy="3658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3"/>
          <p:cNvSpPr txBox="1"/>
          <p:nvPr/>
        </p:nvSpPr>
        <p:spPr>
          <a:xfrm>
            <a:off x="393549" y="333523"/>
            <a:ext cx="61926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</a:rPr>
              <a:t>Referências</a:t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365" name="Google Shape;365;p43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43"/>
          <p:cNvSpPr txBox="1">
            <a:spLocks noGrp="1"/>
          </p:cNvSpPr>
          <p:nvPr>
            <p:ph type="sldNum" idx="12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400" b="1">
                <a:solidFill>
                  <a:srgbClr val="000000"/>
                </a:solidFill>
              </a:rPr>
              <a:t>31</a:t>
            </a:fld>
            <a:endParaRPr sz="2400" b="1">
              <a:solidFill>
                <a:srgbClr val="000000"/>
              </a:solidFill>
            </a:endParaRPr>
          </a:p>
        </p:txBody>
      </p:sp>
      <p:pic>
        <p:nvPicPr>
          <p:cNvPr id="367" name="Google Shape;36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2123"/>
            <a:ext cx="8839200" cy="4380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4"/>
          <p:cNvSpPr txBox="1"/>
          <p:nvPr/>
        </p:nvSpPr>
        <p:spPr>
          <a:xfrm>
            <a:off x="4523708" y="3075000"/>
            <a:ext cx="6192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Obrigado</a:t>
            </a:r>
            <a:endParaRPr sz="4500"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74" name="Google Shape;374;p44"/>
          <p:cNvPicPr preferRelativeResize="0"/>
          <p:nvPr/>
        </p:nvPicPr>
        <p:blipFill rotWithShape="1">
          <a:blip r:embed="rId4">
            <a:alphaModFix/>
          </a:blip>
          <a:srcRect t="23653"/>
          <a:stretch/>
        </p:blipFill>
        <p:spPr>
          <a:xfrm rot="10800000" flipH="1">
            <a:off x="-396552" y="188640"/>
            <a:ext cx="4449092" cy="6696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 txBox="1">
            <a:spLocks noGrp="1"/>
          </p:cNvSpPr>
          <p:nvPr>
            <p:ph type="ctrTitle"/>
          </p:nvPr>
        </p:nvSpPr>
        <p:spPr>
          <a:xfrm>
            <a:off x="685800" y="2763950"/>
            <a:ext cx="7772400" cy="1470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/>
              <a:t>Attribution 4.0 International (CC BY 4.0)</a:t>
            </a:r>
            <a:endParaRPr sz="3600"/>
          </a:p>
        </p:txBody>
      </p:sp>
      <p:pic>
        <p:nvPicPr>
          <p:cNvPr id="381" name="Google Shape;38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6405" y="1851825"/>
            <a:ext cx="5486525" cy="162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1518</Words>
  <Application>Microsoft Office PowerPoint</Application>
  <PresentationFormat>Apresentação na tela (4:3)</PresentationFormat>
  <Paragraphs>155</Paragraphs>
  <Slides>33</Slides>
  <Notes>33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Courier New</vt:lpstr>
      <vt:lpstr>Verdana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Attribution 4.0 International (CC BY 4.0)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Milton Pagliusi</cp:lastModifiedBy>
  <cp:revision>1</cp:revision>
  <dcterms:modified xsi:type="dcterms:W3CDTF">2022-07-26T12:48:00Z</dcterms:modified>
</cp:coreProperties>
</file>