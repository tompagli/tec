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7" orient="horz"/>
        <p:guide pos="6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33b6074c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533b6074c3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a318c74f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13a318c74fe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e48d1bc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13e48d1bc83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e48d1bc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13e48d1bc83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e48d1bc8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13e48d1bc83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e48d1bc8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13e48d1bc83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e48d1bc8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13e48d1bc83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e48d1bc8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3e48d1bc83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e48d1bc8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13e48d1bc83_0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e48d1bc8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13e48d1bc83_0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e48d1bc8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13e48d1bc83_0_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e48d1bc8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13e48d1bc83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e48d1bc8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13e48d1bc83_0_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3e48d1bc8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3e48d1bc83_0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e48d1bc8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13e48d1bc83_0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3e48d1bc8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13e48d1bc83_0_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e48d1bc8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13e48d1bc83_0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e48d1bc8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13e48d1bc83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e48d1bc8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13e48d1bc83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e48d1bc83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3e48d1bc83_3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3e48d1bc83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13e48d1bc83_3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3e48d1bc83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3e48d1bc83_3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e48d1bc83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13e48d1bc83_3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e48d1bc83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13e48d1bc83_3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e48d1bc83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13e48d1bc83_3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e33cf13d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13e33cf13df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3e33cf13d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13e33cf13df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33b6074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533b6074c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3e33cf13d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13e33cf13df_0_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e48d1bc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13e48d1bc83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6f8eb70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6f8eb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996f8eb70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7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3524" y="5550601"/>
            <a:ext cx="2659176" cy="9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779900" y="4698375"/>
            <a:ext cx="40614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Henrique Zanela Cochak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Milton Pedro Pagliusi Neto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>
                <a:solidFill>
                  <a:schemeClr val="dk1"/>
                </a:solidFill>
              </a:rPr>
              <a:t>24/07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779900" y="1730950"/>
            <a:ext cx="53640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pt-BR" sz="2000">
                <a:solidFill>
                  <a:schemeClr val="dk1"/>
                </a:solidFill>
              </a:rPr>
              <a:t>Autômatos Celulares e Jogo da Vida de Conway 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Agenda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86900" y="1290300"/>
            <a:ext cx="8616300" cy="47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Introdução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Fundamentação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Autômatos celulares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Jogo da vida de Conway’s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Considerações Finais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374" y="1395200"/>
            <a:ext cx="2352850" cy="29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Introdução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John Von Neumann previu que no futuro a ciência estaria muito mais preocupada com problemas de controle, programação, processamento de informações, comunicação, organização e sistemas [2].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500" y="3330326"/>
            <a:ext cx="2215900" cy="28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Introdução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Sua base de estudo em teorias dos autômatos se baseia no estudo pragmático dos computadores digitais [2: p. 33, 36].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Concepção similar de cibernética de Wiener's [1].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500" y="3330326"/>
            <a:ext cx="2215900" cy="28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Introdução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27" name="Google Shape;127;p1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86900" y="1255250"/>
            <a:ext cx="861660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Uma questão importante proposta e solucionada pelo mesmo é “que tipo de organização lógica é suficiente para um autômato se controlar de tal maneira que se reproduza?”.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200" y="105163"/>
            <a:ext cx="1103075" cy="11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4025" y="3471376"/>
            <a:ext cx="2215900" cy="28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93550" y="3743500"/>
            <a:ext cx="532560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Solução inicial: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Estudos biológicos neurais em conjunto de sistemas autômatos cinemáticos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650" y="58148"/>
            <a:ext cx="1262125" cy="1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Fundamentação 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autômato, em si, pode ser considerado como uma caixa preta, da qual perguntas podem ser feitas e das quais um “sim” ou “não” é </a:t>
            </a:r>
            <a:r>
              <a:rPr lang="pt-BR" sz="2400">
                <a:solidFill>
                  <a:schemeClr val="dk1"/>
                </a:solidFill>
              </a:rPr>
              <a:t>obtido</a:t>
            </a:r>
            <a:r>
              <a:rPr lang="pt-BR" sz="2400">
                <a:solidFill>
                  <a:schemeClr val="dk1"/>
                </a:solidFill>
              </a:rPr>
              <a:t> como resposta [7].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definição da estrutura interna deve ser geral o suficiente para cobrir todas as máquinas concebíveis, sem a necessidade de envolvimento com problemas físicos de circuito.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 número de estados não se torna importante, contudo é interessante perceber a existência de um valor finito [7].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650" y="58148"/>
            <a:ext cx="1262125" cy="1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Fundamentação 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Dentro desta teoria, Von Neumann usa suas comparações iniciais sendo estritamente baseadas em biologia em estudos de redes neurais.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Neurônios como elementos de computação;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Combinações com funções de comutação e</a:t>
            </a:r>
            <a:r>
              <a:rPr lang="pt-BR" sz="2400">
                <a:solidFill>
                  <a:schemeClr val="dk1"/>
                </a:solidFill>
              </a:rPr>
              <a:t> a</a:t>
            </a:r>
            <a:r>
              <a:rPr lang="pt-BR" sz="2400">
                <a:solidFill>
                  <a:schemeClr val="dk1"/>
                </a:solidFill>
              </a:rPr>
              <a:t>trasos nas sinapses para geração de uma saída considerada binária [2]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Neumann em seu livro intitulado </a:t>
            </a:r>
            <a:r>
              <a:rPr i="1" lang="pt-BR" sz="2400">
                <a:solidFill>
                  <a:schemeClr val="dk1"/>
                </a:solidFill>
              </a:rPr>
              <a:t>Theory of self reproducing automata</a:t>
            </a:r>
            <a:r>
              <a:rPr lang="pt-BR" sz="2400">
                <a:solidFill>
                  <a:schemeClr val="dk1"/>
                </a:solidFill>
              </a:rPr>
              <a:t> [2]: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Detalha toda sua fundamentação que o levou a explorar o conceito de autômatos celulares.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Arthur Walter Burks auxiliou na conclusão do livro.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sistema celular constitui uma estrutura básica ou “espaço” no qual eventos de autômatos podem ocorrer.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Além disso, pode-se formular regras precisas e simples que regem o funcionamento do sistema e sua base temporal é síncrona [2].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Conceitos de vizinhanças são incluídos, e na sua relação, para cada célula, gera uma lista finita de células que são suas vizinhas [2].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Chama-se a lista de estados de uma célula junto com a regra que governa a transição de estado da célula de função de transição.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Logo, um sistema de autômatos celulares consiste em um espaço celular e uma função de transição definida sobre este espaço.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O sistema celular de von Neumann baseia-se em um espaço celular bidimensional de células quadradas em que cada célula tem como vizinhas as quatro células com as quais compartilha limites, cada célula com a possibilidade de atingir 29 estados.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625" y="3419100"/>
            <a:ext cx="5420625" cy="31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i="1" lang="pt-BR" sz="2400">
                <a:solidFill>
                  <a:schemeClr val="dk1"/>
                </a:solidFill>
              </a:rPr>
              <a:t>Quiescent</a:t>
            </a:r>
            <a:r>
              <a:rPr lang="pt-BR" sz="2400">
                <a:solidFill>
                  <a:schemeClr val="dk1"/>
                </a:solidFill>
              </a:rPr>
              <a:t>: célula que não tem influência em sua vizinhança. As células localizadas nas partes não utilizadas do arranjo celular estão neste estado.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Transmissão: responsável pela propagação de excitações entre dois pontos dados do arranjo celular estando ou não excitado.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04" name="Google Shape;2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Confluente: similar ao estado de transmissão, só que adiciona um atraso de duas unidades de tempo na transmissão de excitações e oferecem a possibilidade de dividir linhas de transmissão.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Sensibilizado: estado temporário usado para o processo de construção, que muda do estado </a:t>
            </a:r>
            <a:r>
              <a:rPr i="1" lang="pt-BR" sz="2400">
                <a:solidFill>
                  <a:schemeClr val="dk1"/>
                </a:solidFill>
              </a:rPr>
              <a:t>quiescent </a:t>
            </a:r>
            <a:r>
              <a:rPr lang="pt-BR" sz="2400">
                <a:solidFill>
                  <a:schemeClr val="dk1"/>
                </a:solidFill>
              </a:rPr>
              <a:t>para um estado de transmissão ou confluente.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Neumann definiu um construtor universal, ou seja, uma máquina capaz de criar outra máquina, dado uma descrição.</a:t>
            </a:r>
            <a:endParaRPr sz="24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Isto ocorria devido ao alcance de auto-replicação, fornecendo ao construtor universal sua própria descrição.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550" y="141825"/>
            <a:ext cx="7514899" cy="60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814550" y="6035375"/>
            <a:ext cx="75150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b="1" lang="pt-BR" sz="1600">
                <a:solidFill>
                  <a:schemeClr val="dk1"/>
                </a:solidFill>
              </a:rPr>
              <a:t>Construtor universal com fita ilimitada e braço construtor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Sobre a fita da máquina, cinco operações de fita a seguir são suficientes para todos os propósitos computacionais: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Ler;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“um” e alongar o ciclo de leitura em uma célula;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“zero” e alongar;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“um” e encurtar;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Escrever “zero” e encurtar.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 a possibilidade de simulação do sistema celular de von Neumann por um autômato finito: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É possível envolver a construção ou introdução de uma máquina de Turing universal [1].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Esta máquina requer para sua entrada uma descrição de uma determinada máquina de Turing e os dados que essa máquina usaria.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máquina universal então simula a máquina particular, inclusive sendo possível a execução da auto-replicação dado o construtor de sistemas celulares [10].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Autômatos Celulares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47" name="Google Shape;2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7100" y="280737"/>
            <a:ext cx="1489026" cy="7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Assim, dado qualquer máquina de Turing </a:t>
            </a:r>
            <a:r>
              <a:rPr b="1" i="1" lang="pt-BR" sz="2400">
                <a:solidFill>
                  <a:schemeClr val="dk1"/>
                </a:solidFill>
              </a:rPr>
              <a:t>M</a:t>
            </a:r>
            <a:r>
              <a:rPr lang="pt-BR" sz="2400">
                <a:solidFill>
                  <a:schemeClr val="dk1"/>
                </a:solidFill>
              </a:rPr>
              <a:t>, é possível embutir na estrutura celular de 29 estados um autômato quiescente que executa os mesmos cálculos, tornando o sistema uma possível máquina universal de Turing [1, 2], já que a lógica dos espaços celulares é logicamente universal [1].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Jogo da Vida de Conway’s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Em 1970, John Conway elaborou uma máquina que consistia em um quadro infinito e um conjunto de regras descrevendo como cada célula deste quadro se comportaria, com um estado “vivo” ou “morto”.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896" y="3312150"/>
            <a:ext cx="3078200" cy="29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Introdução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66" name="Google Shape;2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Apesar da origem de autômatos celulares estar marcada aproximadamente em 1950, o autômato celular  “Jogo da Vida”, de John Holton Conway foi o responsável pelo aumento crescente de interesse nesta  área 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Mas afinal, o que é esse “Jogo da Vida”? É um autômato celular que simula padrões evolutivos em populações de células “vivas” baseado em um conjunto de regras.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68" name="Google Shape;26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9099" y="4413275"/>
            <a:ext cx="2805800" cy="20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Regras do Jogo da Vida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Trata-se de um jogo evolutivo, ou seja, a condição inicial do “mapa” dita o que acontece, onde cada célula tem um estado binário de vivo ou morto e a cada geração que passa, novas vizinhanças e estruturas são formadas, tudo com base nas seguintes regras evolutivas: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Uma célula “viva” se mantém indiferente se esta tem como vizinho dois ou três vizinhos “vivos”.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Uma célula nova “nasce” quando tem três vizinhos “vivos”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• </a:t>
            </a:r>
            <a:r>
              <a:rPr lang="pt-BR" sz="2400">
                <a:solidFill>
                  <a:schemeClr val="dk1"/>
                </a:solidFill>
              </a:rPr>
              <a:t>Todas as outras células permanecem indiferentes.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Estruturas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Durante o processo evolutivo do autômato do jogo da Vida de Conway,diferentes estruturas se desenvolvem, seja pelo isolamento ou pela sobrepopulação.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5425" y="3059100"/>
            <a:ext cx="595312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5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Estruturas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5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Dentre</a:t>
            </a:r>
            <a:r>
              <a:rPr lang="pt-BR" sz="2400">
                <a:solidFill>
                  <a:schemeClr val="dk1"/>
                </a:solidFill>
              </a:rPr>
              <a:t> os exemplos do slide anterior, temos: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i="1" lang="pt-BR" sz="2400">
                <a:solidFill>
                  <a:schemeClr val="dk1"/>
                </a:solidFill>
              </a:rPr>
              <a:t>Still Life</a:t>
            </a:r>
            <a:r>
              <a:rPr lang="pt-BR" sz="2400">
                <a:solidFill>
                  <a:schemeClr val="dk1"/>
                </a:solidFill>
              </a:rPr>
              <a:t>: estes são os menores ciclos possíveis, com uma configuração de estados imutável.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i="1" lang="pt-BR" sz="2400">
                <a:solidFill>
                  <a:schemeClr val="dk1"/>
                </a:solidFill>
              </a:rPr>
              <a:t>Oscillator</a:t>
            </a:r>
            <a:r>
              <a:rPr lang="pt-BR" sz="2400">
                <a:solidFill>
                  <a:schemeClr val="dk1"/>
                </a:solidFill>
              </a:rPr>
              <a:t>: uma configuração de estrutura que se repete depois de um número </a:t>
            </a:r>
            <a:r>
              <a:rPr i="1" lang="pt-BR" sz="2400">
                <a:solidFill>
                  <a:schemeClr val="dk1"/>
                </a:solidFill>
              </a:rPr>
              <a:t>n </a:t>
            </a:r>
            <a:r>
              <a:rPr lang="pt-BR" sz="2400">
                <a:solidFill>
                  <a:schemeClr val="dk1"/>
                </a:solidFill>
              </a:rPr>
              <a:t>de gerações.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i="1" lang="pt-BR" sz="2400">
                <a:solidFill>
                  <a:schemeClr val="dk1"/>
                </a:solidFill>
              </a:rPr>
              <a:t>Spaceship</a:t>
            </a:r>
            <a:r>
              <a:rPr lang="pt-BR" sz="2400">
                <a:solidFill>
                  <a:schemeClr val="dk1"/>
                </a:solidFill>
              </a:rPr>
              <a:t>: assim como o oscillator, é uma configuração de estrutura que se repete depois de um número n de gerações, porém, se repete com um movimento a uma direção, nunca estático.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 MT do Jogo da Vida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04" name="Google Shape;3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6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 o potencial de simular sistemas evolucionários, foi estudado a possibilidade da construção de uma máquina de Turing, com fita dentro do autômato celular do Jogo da Vida de Conway, com extensão para uma MT Universal.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Isso também foi usado para provar a universalidade dentro do Jogo da Vida, uma vez que, a prova disso é a tese de Church-Turing de que ela pode performar o equivalente a uma MT.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7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 MT do Jogo da Vida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13" name="Google Shape;3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0000" y="1319625"/>
            <a:ext cx="3444000" cy="33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Nesta figura podemos ver a máquina finita de estados na estrutura quadrada na parte inferior a esquerda e a fita como a estrutura na diagonal, assim como o cursor.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8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393550" y="333600"/>
            <a:ext cx="8509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A MT do Jogo da Vida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323" name="Google Shape;3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8864" y="378711"/>
            <a:ext cx="1888211" cy="5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 implementação da MT,(mesmo a universal), contou com o desenvolvimento de diferentes estruturas capazes de transmitir informações através do plano do Jogo da Vida (exemplos: </a:t>
            </a:r>
            <a:r>
              <a:rPr i="1" lang="pt-BR" sz="2400">
                <a:solidFill>
                  <a:schemeClr val="dk1"/>
                </a:solidFill>
              </a:rPr>
              <a:t>glider guns</a:t>
            </a:r>
            <a:r>
              <a:rPr lang="pt-BR" sz="2400">
                <a:solidFill>
                  <a:schemeClr val="dk1"/>
                </a:solidFill>
              </a:rPr>
              <a:t>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Também foi necessário a implementação das computações necessárias para essa simulação, como por exemplo: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A máquina finita de estados.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Fita (in)Finita.</a:t>
            </a:r>
            <a:endParaRPr sz="2400">
              <a:solidFill>
                <a:schemeClr val="dk1"/>
              </a:solidFill>
            </a:endParaRPr>
          </a:p>
          <a:p>
            <a:pPr indent="-3810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 sz="2400">
                <a:solidFill>
                  <a:schemeClr val="dk1"/>
                </a:solidFill>
              </a:rPr>
              <a:t>Transição de Estados (cursor).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393550" y="333600"/>
            <a:ext cx="85098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Considerações Finais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Autômatos celulares são empregados para analisar fenômenos de crescimento a nível celular, e.g., crescimento de planta, evolução do DNA, devido a sua técnica ser capaz de prever a evolução mais dinâmica de certos padrões complexos.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Um ponto interessante destas produções é que o sistema de autômato celular de von Neumann é um computação universal e uma construção universal capaz de ser auto-reprodutivo.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33" name="Google Shape;3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887" y="221538"/>
            <a:ext cx="664463" cy="87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393550" y="333600"/>
            <a:ext cx="85098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Considerações Finais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286900" y="1255250"/>
            <a:ext cx="8616600" cy="4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Comprovar uma máquina de Turing universal do Jogo da Vida (sendo uma extensão relativamente simples da primeira), gerou um exemplo de uma computação baseada em colisão espaço-temporal, ou seja, uma demonstração da universalidade do Jogo da Vida.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Essa implementação de construção contínua demonstra a capacidade de uma aplicação usando autômatos celulares se aproveitando de padrões “aprendidos”.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42" name="Google Shape;3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887" y="221538"/>
            <a:ext cx="664463" cy="87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Referências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48" name="Google Shape;348;p4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1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1" cy="160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7668"/>
            <a:ext cx="8839201" cy="318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Referências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57" name="Google Shape;357;p4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59" name="Google Shape;3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1" cy="3658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</a:rPr>
              <a:t>Referências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65" name="Google Shape;365;p43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3"/>
          <p:cNvSpPr txBox="1"/>
          <p:nvPr>
            <p:ph idx="12" type="sldNum"/>
          </p:nvPr>
        </p:nvSpPr>
        <p:spPr>
          <a:xfrm>
            <a:off x="6690575" y="6344663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2400">
                <a:solidFill>
                  <a:srgbClr val="000000"/>
                </a:solidFill>
              </a:rPr>
              <a:t>‹#›</a:t>
            </a:fld>
            <a:endParaRPr b="1" sz="2400">
              <a:solidFill>
                <a:srgbClr val="000000"/>
              </a:solidFill>
            </a:endParaRPr>
          </a:p>
        </p:txBody>
      </p:sp>
      <p:pic>
        <p:nvPicPr>
          <p:cNvPr id="367" name="Google Shape;3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3"/>
            <a:ext cx="8839200" cy="438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4"/>
          <p:cNvSpPr txBox="1"/>
          <p:nvPr/>
        </p:nvSpPr>
        <p:spPr>
          <a:xfrm>
            <a:off x="4523708" y="3075000"/>
            <a:ext cx="619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 b="1" sz="4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4" name="Google Shape;374;p44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ctrTitle"/>
          </p:nvPr>
        </p:nvSpPr>
        <p:spPr>
          <a:xfrm>
            <a:off x="685800" y="2763950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Attribution 4.0 International (CC BY 4.0)</a:t>
            </a:r>
            <a:endParaRPr sz="3600"/>
          </a:p>
        </p:txBody>
      </p:sp>
      <p:pic>
        <p:nvPicPr>
          <p:cNvPr id="381" name="Google Shape;3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405" y="1851825"/>
            <a:ext cx="5486525" cy="16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